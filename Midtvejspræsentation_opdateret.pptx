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90195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7F5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Midtvejspræsentation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2633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B7B7"/>
                </a:solidFill>
              </a:rPr>
              <a:t>DIF · IdrætsID · Case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53218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B7B7"/>
                </a:solidFill>
              </a:rPr>
              <a:t>PRKOM Gruppe 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7B7B7"/>
                </a:solidFill>
              </a:rPr>
              <a:t>Anton · Carl Emil · David E · David M · Nikolas · Rune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75320" y="2487168"/>
            <a:ext cx="3291840" cy="548640"/>
          </a:xfrm>
          <a:prstGeom prst="rect">
            <a:avLst/>
          </a:prstGeom>
          <a:solidFill>
            <a:srgbClr val="8A1024"/>
          </a:solidFill>
          <a:ln>
            <a:solidFill>
              <a:srgbClr val="8A10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7F5F2"/>
                </a:solidFill>
              </a:rPr>
              <a:t>IdrætsID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8458200" y="3246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7F5F2"/>
                </a:solidFill>
              </a:rPr>
              <a:t>Én identitet.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7F5F2"/>
                </a:solidFill>
              </a:rPr>
              <a:t>Eksisterende systemer.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652881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 · IdrætsID · PRKOM Gruppe 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8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31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PROBLEMFELT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7F5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IdrætsID skal lande i et fragmenteret idrætslandskab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7B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Brugere og foreninger har allerede login, medlemssystemer og arbejdsgange.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1325880" cy="41148"/>
          </a:xfrm>
          <a:prstGeom prst="rect">
            <a:avLst/>
          </a:prstGeom>
          <a:solidFill>
            <a:srgbClr val="8A1024"/>
          </a:solidFill>
          <a:ln w="12700">
            <a:solidFill>
              <a:srgbClr val="8A10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48840"/>
            <a:ext cx="73152" cy="1920240"/>
          </a:xfrm>
          <a:prstGeom prst="rect">
            <a:avLst/>
          </a:prstGeom>
          <a:solidFill>
            <a:srgbClr val="8A1024"/>
          </a:solidFill>
          <a:ln w="12700">
            <a:solidFill>
              <a:srgbClr val="8A10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8600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2"/>
                </a:solidFill>
              </a:rPr>
              <a:t>Etablerede systemer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679192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B7B7B7"/>
                </a:solidFill>
              </a:rPr>
              <a:t>Mange foreninger bruger allerede Holdsport, Conventus, GoMember, forbundssystemer eller lokale løsninger.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4434840" y="2148840"/>
            <a:ext cx="73152" cy="1920240"/>
          </a:xfrm>
          <a:prstGeom prst="rect">
            <a:avLst/>
          </a:prstGeom>
          <a:solidFill>
            <a:srgbClr val="8A1024"/>
          </a:solidFill>
          <a:ln w="12700">
            <a:solidFill>
              <a:srgbClr val="8A10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28600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2"/>
                </a:solidFill>
              </a:rPr>
              <a:t>Lav umiddelbar brugergevinst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679192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B7B7B7"/>
                </a:solidFill>
              </a:rPr>
              <a:t>Hvis brugeren kun dyrker én idræt og allerede har et login, kan IdrætsID føles som “bare endnu et login”.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8183880" y="2148840"/>
            <a:ext cx="73152" cy="1920240"/>
          </a:xfrm>
          <a:prstGeom prst="rect">
            <a:avLst/>
          </a:prstGeom>
          <a:solidFill>
            <a:srgbClr val="8A1024"/>
          </a:solidFill>
          <a:ln w="12700">
            <a:solidFill>
              <a:srgbClr val="8A10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228600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2"/>
                </a:solidFill>
              </a:rPr>
              <a:t>Større værdi for foreninger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66760" y="2679192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B7B7B7"/>
                </a:solidFill>
              </a:rPr>
              <a:t>Foreninger kan få mindre manuel indrapportering, bedre datagrundlag og nemmere administration.</a:t>
            </a:r>
            <a:endParaRPr lang="en-US" sz="1160" dirty="0"/>
          </a:p>
        </p:txBody>
      </p:sp>
      <p:sp>
        <p:nvSpPr>
          <p:cNvPr id="15" name="Text 13"/>
          <p:cNvSpPr/>
          <p:nvPr/>
        </p:nvSpPr>
        <p:spPr>
          <a:xfrm>
            <a:off x="960120" y="4736592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Foreløbig præmis: løsningen skal ikke konkurrere med medlemssystemerne — den skal gøre identitet, login og datadeling lettere på tværs.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66928" y="652881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 · IdrætsID · PRKOM Gruppe 5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9284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8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31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PROBLEMFORMULERING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7F5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Hvordan kan vi få brugere til at benytte sig af IdrætsID?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7B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 holder den foreløbigt bred, fordi empiri og brugertest skal præcisere de vigtigste barrierer.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1325880" cy="41148"/>
          </a:xfrm>
          <a:prstGeom prst="rect">
            <a:avLst/>
          </a:prstGeom>
          <a:solidFill>
            <a:srgbClr val="8A1024"/>
          </a:solidFill>
          <a:ln w="12700">
            <a:solidFill>
              <a:srgbClr val="8A10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57400"/>
            <a:ext cx="9966960" cy="1097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7F5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“Hvordan kan vi få brugere til at benytte sig af IdrætsID?”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3886200"/>
            <a:ext cx="3154680" cy="1234440"/>
          </a:xfrm>
          <a:prstGeom prst="rect">
            <a:avLst/>
          </a:prstGeom>
          <a:solidFill>
            <a:srgbClr val="2B2B2B"/>
          </a:solidFill>
          <a:ln w="12700">
            <a:solidFill>
              <a:srgbClr val="575757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Mulig præcisering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 generel adoption til: relevans, tillid og lav friktion i loginflowet.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26280" y="3886200"/>
            <a:ext cx="3154680" cy="1234440"/>
          </a:xfrm>
          <a:prstGeom prst="rect">
            <a:avLst/>
          </a:prstGeom>
          <a:solidFill>
            <a:srgbClr val="2B2B2B"/>
          </a:solidFill>
          <a:ln w="12700">
            <a:solidFill>
              <a:srgbClr val="575757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Vigtigt skifte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 flyttes fra “ny brugerplatform” til “identitets- og loginlag”.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01000" y="3886200"/>
            <a:ext cx="3154680" cy="1234440"/>
          </a:xfrm>
          <a:prstGeom prst="rect">
            <a:avLst/>
          </a:prstGeom>
          <a:solidFill>
            <a:srgbClr val="2B2B2B"/>
          </a:solidFill>
          <a:ln w="12700">
            <a:solidFill>
              <a:srgbClr val="575757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Empirisk afklaring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Hvad motiverer foreninger og brugere til faktisk at bruge løsningen?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52881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 · IdrætsID · PRKOM Gruppe 5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29284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8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31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INDSIGTER FRA DIF-DIALOGEN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7F5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 centrale fund: IdrætsID bør føles som infrastruktur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7B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Ikke som en ny platform, man skal flytte hele idrætslivet over 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1325880" cy="41148"/>
          </a:xfrm>
          <a:prstGeom prst="rect">
            <a:avLst/>
          </a:prstGeom>
          <a:solidFill>
            <a:srgbClr val="8A1024"/>
          </a:solidFill>
          <a:ln w="12700">
            <a:solidFill>
              <a:srgbClr val="8A10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84832"/>
            <a:ext cx="731520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Login-delen er længst fremme; datadeling, børneprofiler og dashboards er stadig under udvikling.
</a:t>
            </a:r>
            <a:endParaRPr lang="en-US" sz="1450" dirty="0"/>
          </a:p>
          <a:p>
            <a:r>
              <a:rPr lang="en-US" sz="145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MitID bør bruges ved første verificering eller recovery — ikke hver gang brugeren skal logge ind.
</a:t>
            </a:r>
            <a:endParaRPr lang="en-US" sz="1450" dirty="0"/>
          </a:p>
          <a:p>
            <a:r>
              <a:rPr lang="en-US" sz="145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Roller som udøver, træner, frivillig eller bestyrelse bør komme fra de forbundne medlemssystemer.
</a:t>
            </a:r>
            <a:endParaRPr lang="en-US" sz="1450" dirty="0"/>
          </a:p>
          <a:p>
            <a:r>
              <a:rPr lang="en-US" sz="145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Foreninger er en stærk målgruppe, fordi de både påvirker brugeradoption og kan få konkret administrativ værdi.
</a:t>
            </a:r>
            <a:endParaRPr lang="en-US" sz="1450" dirty="0"/>
          </a:p>
          <a:p>
            <a:r>
              <a:rPr lang="en-US" sz="145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by Design skal forklares visuelt, især i forhold til pseudonymisering, samtykke og databrug.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49640" y="2057400"/>
            <a:ext cx="2651760" cy="1005840"/>
          </a:xfrm>
          <a:prstGeom prst="rect">
            <a:avLst/>
          </a:prstGeom>
          <a:solidFill>
            <a:srgbClr val="2B2B2B"/>
          </a:solidFill>
          <a:ln w="12700">
            <a:solidFill>
              <a:srgbClr val="575757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Konsekvens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 fjernede “Hvem er du?” fra onboarding.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49640" y="3337560"/>
            <a:ext cx="2651760" cy="1005840"/>
          </a:xfrm>
          <a:prstGeom prst="rect">
            <a:avLst/>
          </a:prstGeom>
          <a:solidFill>
            <a:srgbClr val="2B2B2B"/>
          </a:solidFill>
          <a:ln w="12700">
            <a:solidFill>
              <a:srgbClr val="575757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 logik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“Hvem vil du fortsætte som?” vises kun ved flere verificerede roller/profiler.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49640" y="4617720"/>
            <a:ext cx="2651760" cy="1005840"/>
          </a:xfrm>
          <a:prstGeom prst="rect">
            <a:avLst/>
          </a:prstGeom>
          <a:solidFill>
            <a:srgbClr val="2B2B2B"/>
          </a:solidFill>
          <a:ln w="12700">
            <a:solidFill>
              <a:srgbClr val="575757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Designmål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Færre valg. Mere tillid. Mindre friktion.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52881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 · IdrætsID · PRKOM Gruppe 5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29284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8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31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METODE OG FREMGANGSMÅDE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7F5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 kombinerer research, flowmodellering og mockup-test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7B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Målet er at sammenholde, hvad aktørerne siger, hvad systemerne kræver, og hvad brugerne forstår.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1325880" cy="41148"/>
          </a:xfrm>
          <a:prstGeom prst="rect">
            <a:avLst/>
          </a:prstGeom>
          <a:solidFill>
            <a:srgbClr val="8A1024"/>
          </a:solidFill>
          <a:ln w="12700">
            <a:solidFill>
              <a:srgbClr val="8A10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48840"/>
            <a:ext cx="329184" cy="329184"/>
          </a:xfrm>
          <a:prstGeom prst="rect">
            <a:avLst/>
          </a:prstGeom>
          <a:solidFill>
            <a:srgbClr val="8A1024"/>
          </a:solidFill>
          <a:ln>
            <a:solidFill>
              <a:srgbClr val="8A10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5F2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21305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7F5F2"/>
                </a:solidFill>
              </a:rPr>
              <a:t>Desk research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34440" y="2441448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7B7B7"/>
                </a:solidFill>
              </a:rPr>
              <a:t>Eksisterende loginflows, medlemssystemer og tidligere rapporter.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480560" y="2148840"/>
            <a:ext cx="329184" cy="329184"/>
          </a:xfrm>
          <a:prstGeom prst="rect">
            <a:avLst/>
          </a:prstGeom>
          <a:solidFill>
            <a:srgbClr val="8A1024"/>
          </a:solidFill>
          <a:ln>
            <a:solidFill>
              <a:srgbClr val="8A10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5F2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21305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7F5F2"/>
                </a:solidFill>
              </a:rPr>
              <a:t>Dialog med DIF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37760" y="2441448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7B7B7"/>
                </a:solidFill>
              </a:rPr>
              <a:t>Q&amp;A gav ny forståelse af login, roller, foreninger og databrug.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183880" y="2148840"/>
            <a:ext cx="329184" cy="329184"/>
          </a:xfrm>
          <a:prstGeom prst="rect">
            <a:avLst/>
          </a:prstGeom>
          <a:solidFill>
            <a:srgbClr val="8A1024"/>
          </a:solidFill>
          <a:ln>
            <a:solidFill>
              <a:srgbClr val="8A10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5F2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41080" y="21305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7F5F2"/>
                </a:solidFill>
              </a:rPr>
              <a:t>Sequence diagrams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41080" y="2441448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7B7B7"/>
                </a:solidFill>
              </a:rPr>
              <a:t>Vi oversætter konceptet til konkrete user flows og edge cases.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777240" y="4251960"/>
            <a:ext cx="329184" cy="329184"/>
          </a:xfrm>
          <a:prstGeom prst="rect">
            <a:avLst/>
          </a:prstGeom>
          <a:solidFill>
            <a:srgbClr val="8A1024"/>
          </a:solidFill>
          <a:ln>
            <a:solidFill>
              <a:srgbClr val="8A10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5F2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423367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7F5F2"/>
                </a:solidFill>
              </a:rPr>
              <a:t>Mockups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34440" y="4544568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7B7B7"/>
                </a:solidFill>
              </a:rPr>
              <a:t>Visuel prototype af IdrætsID som authenticator, ikke platform.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4480560" y="4251960"/>
            <a:ext cx="329184" cy="329184"/>
          </a:xfrm>
          <a:prstGeom prst="rect">
            <a:avLst/>
          </a:prstGeom>
          <a:solidFill>
            <a:srgbClr val="8A1024"/>
          </a:solidFill>
          <a:ln>
            <a:solidFill>
              <a:srgbClr val="8A10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5F2"/>
                </a:solidFill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42336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7F5F2"/>
                </a:solidFill>
              </a:rPr>
              <a:t>Brugertest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937760" y="4544568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7B7B7"/>
                </a:solidFill>
              </a:rPr>
              <a:t>Test af forståelse, tillid og friktion hos relevante brugere.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183880" y="4251960"/>
            <a:ext cx="329184" cy="329184"/>
          </a:xfrm>
          <a:prstGeom prst="rect">
            <a:avLst/>
          </a:prstGeom>
          <a:solidFill>
            <a:srgbClr val="8A1024"/>
          </a:solidFill>
          <a:ln>
            <a:solidFill>
              <a:srgbClr val="8A10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5F2"/>
                </a:solidFill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41080" y="42336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7F5F2"/>
                </a:solidFill>
              </a:rPr>
              <a:t>AI som sparring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641080" y="4544568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7B7B7"/>
                </a:solidFill>
              </a:rPr>
              <a:t>Strukturering, alternativer, kritik og iteration af flows og tekster.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566928" y="652881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 · IdrætsID · PRKOM Gruppe 5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9284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8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31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 TIL LØSNING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7F5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Teknisk definition: IdrætsID som identitets- og loginlag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7B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Foreningens system ejer medlemsoplevelsen. IdrætsID ejer identiteten og godkendelsen.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1325880" cy="41148"/>
          </a:xfrm>
          <a:prstGeom prst="rect">
            <a:avLst/>
          </a:prstGeom>
          <a:solidFill>
            <a:srgbClr val="8A1024"/>
          </a:solidFill>
          <a:ln w="12700">
            <a:solidFill>
              <a:srgbClr val="8A10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01952" y="3657600"/>
            <a:ext cx="1188720" cy="0"/>
          </a:xfrm>
          <a:prstGeom prst="line">
            <a:avLst/>
          </a:prstGeom>
          <a:noFill/>
          <a:ln w="19050">
            <a:solidFill>
              <a:srgbClr val="B7B7B7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736592" y="3657600"/>
            <a:ext cx="1188720" cy="0"/>
          </a:xfrm>
          <a:prstGeom prst="line">
            <a:avLst/>
          </a:prstGeom>
          <a:noFill/>
          <a:ln w="19050">
            <a:solidFill>
              <a:srgbClr val="B7B7B7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571232" y="3657600"/>
            <a:ext cx="1188720" cy="0"/>
          </a:xfrm>
          <a:prstGeom prst="line">
            <a:avLst/>
          </a:prstGeom>
          <a:noFill/>
          <a:ln w="19050">
            <a:solidFill>
              <a:srgbClr val="B7B7B7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94360" y="2999232"/>
            <a:ext cx="1691640" cy="1335024"/>
          </a:xfrm>
          <a:prstGeom prst="rect">
            <a:avLst/>
          </a:prstGeom>
          <a:solidFill>
            <a:srgbClr val="243040"/>
          </a:solidFill>
          <a:ln w="12700">
            <a:solidFill>
              <a:srgbClr val="536174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Eksternt system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Klub, forbund eller medlemssystem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34640" y="2999232"/>
            <a:ext cx="2148840" cy="1335024"/>
          </a:xfrm>
          <a:prstGeom prst="rect">
            <a:avLst/>
          </a:prstGeom>
          <a:solidFill>
            <a:srgbClr val="8A1024"/>
          </a:solidFill>
          <a:ln w="12700">
            <a:solidFill>
              <a:srgbClr val="A31933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IdrætsID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Verificeret identitet, relationer og login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0" y="2999232"/>
            <a:ext cx="2148840" cy="1335024"/>
          </a:xfrm>
          <a:prstGeom prst="rect">
            <a:avLst/>
          </a:prstGeom>
          <a:solidFill>
            <a:srgbClr val="8A1024"/>
          </a:solidFill>
          <a:ln w="12700">
            <a:solidFill>
              <a:srgbClr val="A31933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Godkendelse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 ID / passkey + swipe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503920" y="2999232"/>
            <a:ext cx="2606040" cy="1335024"/>
          </a:xfrm>
          <a:prstGeom prst="rect">
            <a:avLst/>
          </a:prstGeom>
          <a:solidFill>
            <a:srgbClr val="243040"/>
          </a:solidFill>
          <a:ln w="12700">
            <a:solidFill>
              <a:srgbClr val="536174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Tilbage i systemet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Medlemskab, hold, betaling og administration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19385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Designprincipper: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864608"/>
            <a:ext cx="987552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2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MitID bruges primært ved første verificering/recovery.
</a:t>
            </a:r>
            <a:endParaRPr lang="en-US" sz="1320" dirty="0"/>
          </a:p>
          <a:p>
            <a:r>
              <a:rPr lang="en-US" sz="132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Roller tildeles ikke frit af brugeren.
</a:t>
            </a:r>
            <a:endParaRPr lang="en-US" sz="1320" dirty="0"/>
          </a:p>
          <a:p>
            <a:r>
              <a:rPr lang="en-US" sz="132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Børn administreres gennem verificeret forælder/værge.
</a:t>
            </a:r>
            <a:endParaRPr lang="en-US" sz="1320" dirty="0"/>
          </a:p>
          <a:p>
            <a:r>
              <a:rPr lang="en-US" sz="132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Samtykke og datadeling adskilles fra almindeligt login.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566928" y="652881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 · IdrætsID · PRKOM Gruppe 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29284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8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31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FLOWS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7F5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Flowlogikken: 0, 1 eller flere relevante kontekster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7B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Antallet af verificerede profiler og roller afgør, hvilke skærme brugeren ser.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1325880" cy="41148"/>
          </a:xfrm>
          <a:prstGeom prst="rect">
            <a:avLst/>
          </a:prstGeom>
          <a:solidFill>
            <a:srgbClr val="8A1024"/>
          </a:solidFill>
          <a:ln w="12700">
            <a:solidFill>
              <a:srgbClr val="8A10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20240"/>
            <a:ext cx="1920240" cy="960120"/>
          </a:xfrm>
          <a:prstGeom prst="rect">
            <a:avLst/>
          </a:prstGeom>
          <a:solidFill>
            <a:srgbClr val="243040"/>
          </a:solidFill>
          <a:ln w="12700">
            <a:solidFill>
              <a:srgbClr val="536174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ind med IdrætsID i eksternt system</a:t>
            </a:r>
            <a:endParaRPr lang="en-US" sz="1160" dirty="0"/>
          </a:p>
        </p:txBody>
      </p:sp>
      <p:sp>
        <p:nvSpPr>
          <p:cNvPr id="7" name="Text 5"/>
          <p:cNvSpPr/>
          <p:nvPr/>
        </p:nvSpPr>
        <p:spPr>
          <a:xfrm>
            <a:off x="2834640" y="222199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7B7B7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337560" y="1920240"/>
            <a:ext cx="2057400" cy="960120"/>
          </a:xfrm>
          <a:prstGeom prst="rect">
            <a:avLst/>
          </a:prstGeom>
          <a:solidFill>
            <a:srgbClr val="8A1024"/>
          </a:solidFill>
          <a:ln w="12700">
            <a:solidFill>
              <a:srgbClr val="A31933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IdrætsID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Finder profiler, børn og roller</a:t>
            </a:r>
            <a:endParaRPr lang="en-US" sz="1160" dirty="0"/>
          </a:p>
        </p:txBody>
      </p:sp>
      <p:sp>
        <p:nvSpPr>
          <p:cNvPr id="9" name="Text 7"/>
          <p:cNvSpPr/>
          <p:nvPr/>
        </p:nvSpPr>
        <p:spPr>
          <a:xfrm>
            <a:off x="5623560" y="222199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7B7B7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1920240"/>
            <a:ext cx="2331720" cy="960120"/>
          </a:xfrm>
          <a:prstGeom prst="rect">
            <a:avLst/>
          </a:prstGeom>
          <a:solidFill>
            <a:srgbClr val="2B2B2B"/>
          </a:solidFill>
          <a:ln w="12700">
            <a:solidFill>
              <a:srgbClr val="575757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Beslutning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 1 eller flere relevante kontekster</a:t>
            </a:r>
            <a:endParaRPr lang="en-US" sz="1160" dirty="0"/>
          </a:p>
        </p:txBody>
      </p:sp>
      <p:sp>
        <p:nvSpPr>
          <p:cNvPr id="11" name="Text 9"/>
          <p:cNvSpPr/>
          <p:nvPr/>
        </p:nvSpPr>
        <p:spPr>
          <a:xfrm>
            <a:off x="8641080" y="222199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7B7B7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098280" y="1920240"/>
            <a:ext cx="2331720" cy="960120"/>
          </a:xfrm>
          <a:prstGeom prst="rect">
            <a:avLst/>
          </a:prstGeom>
          <a:solidFill>
            <a:srgbClr val="8A1024"/>
          </a:solidFill>
          <a:ln w="12700">
            <a:solidFill>
              <a:srgbClr val="A31933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Godkend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 ID/passkey + swipe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777240" y="3657600"/>
            <a:ext cx="73152" cy="1097280"/>
          </a:xfrm>
          <a:prstGeom prst="rect">
            <a:avLst/>
          </a:prstGeom>
          <a:solidFill>
            <a:srgbClr val="8A1024"/>
          </a:solidFill>
          <a:ln w="12700">
            <a:solidFill>
              <a:srgbClr val="8A10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794760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2"/>
                </a:solidFill>
              </a:rPr>
              <a:t>0 relevante roller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4187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B7B7B7"/>
                </a:solidFill>
              </a:rPr>
              <a:t>Ved ny indmelding fortsætter brugeren som person. Medlemssystemet opretter relationen bagefter.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4434840" y="3657600"/>
            <a:ext cx="73152" cy="1097280"/>
          </a:xfrm>
          <a:prstGeom prst="rect">
            <a:avLst/>
          </a:prstGeom>
          <a:solidFill>
            <a:srgbClr val="8A1024"/>
          </a:solidFill>
          <a:ln w="12700">
            <a:solidFill>
              <a:srgbClr val="8A10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3794760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2"/>
                </a:solidFill>
              </a:rPr>
              <a:t>1 relevant rolle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17720" y="4187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B7B7B7"/>
                </a:solidFill>
              </a:rPr>
              <a:t>Brugeren går direkte til loginbekræftelse. Ingen ekstra valg eller rolle-skærm.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8092440" y="3657600"/>
            <a:ext cx="73152" cy="1097280"/>
          </a:xfrm>
          <a:prstGeom prst="rect">
            <a:avLst/>
          </a:prstGeom>
          <a:solidFill>
            <a:srgbClr val="8A1024"/>
          </a:solidFill>
          <a:ln w="12700">
            <a:solidFill>
              <a:srgbClr val="8A10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3794760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2"/>
                </a:solidFill>
              </a:rPr>
              <a:t>Flere kontekster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75320" y="4187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B7B7B7"/>
                </a:solidFill>
              </a:rPr>
              <a:t>Vis “Hvem vil du fortsætte som?” med de allerede registrerede profiler/roller.</a:t>
            </a:r>
            <a:endParaRPr lang="en-US" sz="1160" dirty="0"/>
          </a:p>
        </p:txBody>
      </p:sp>
      <p:sp>
        <p:nvSpPr>
          <p:cNvPr id="22" name="Text 20"/>
          <p:cNvSpPr/>
          <p:nvPr/>
        </p:nvSpPr>
        <p:spPr>
          <a:xfrm>
            <a:off x="960120" y="5577840"/>
            <a:ext cx="10241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Hovedregel: brugeren må ikke selv tildele sig roller. Roller skal være registreret af et forbundet medlemssystem eller en organisationsportal.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566928" y="652881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 · IdrætsID · PRKOM Gruppe 5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29284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8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31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ROLLE- OG PROFILVALG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7F5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“Hvem vil du fortsætte som?” vises kun når det er nødvendigt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7B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Skærmen er ikke onboarding — den er et valg mellem eksisterende, verificerede kontekster.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1325880" cy="41148"/>
          </a:xfrm>
          <a:prstGeom prst="rect">
            <a:avLst/>
          </a:prstGeom>
          <a:solidFill>
            <a:srgbClr val="8A1024"/>
          </a:solidFill>
          <a:ln w="12700">
            <a:solidFill>
              <a:srgbClr val="8A10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7510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7B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Eksempel på skærmtekst: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5F2"/>
                </a:solidFill>
              </a:rPr>
              <a:t>Hvem vil du fortsætte som?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77240" y="2944368"/>
            <a:ext cx="4754880" cy="731520"/>
          </a:xfrm>
          <a:prstGeom prst="rect">
            <a:avLst/>
          </a:prstGeom>
          <a:solidFill>
            <a:srgbClr val="2B2B2B"/>
          </a:solidFill>
          <a:ln w="12700">
            <a:solidFill>
              <a:srgbClr val="575757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7F5F2"/>
                </a:solidFill>
              </a:rPr>
              <a:t>Louise Hansen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5F2"/>
                </a:solidFill>
              </a:rPr>
              <a:t>Udøver · Roskilde IF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4754880" cy="731520"/>
          </a:xfrm>
          <a:prstGeom prst="rect">
            <a:avLst/>
          </a:prstGeom>
          <a:solidFill>
            <a:srgbClr val="2B2B2B"/>
          </a:solidFill>
          <a:ln w="12700">
            <a:solidFill>
              <a:srgbClr val="575757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7F5F2"/>
                </a:solidFill>
              </a:rPr>
              <a:t>Louise Hansen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5F2"/>
                </a:solidFill>
              </a:rPr>
              <a:t>Bestyrelsesmedlem · Roskilde IF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828032"/>
            <a:ext cx="4754880" cy="731520"/>
          </a:xfrm>
          <a:prstGeom prst="rect">
            <a:avLst/>
          </a:prstGeom>
          <a:solidFill>
            <a:srgbClr val="2B2B2B"/>
          </a:solidFill>
          <a:ln w="12700">
            <a:solidFill>
              <a:srgbClr val="575757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7F5F2"/>
                </a:solidFill>
              </a:rPr>
              <a:t>Emma Hansen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5F2"/>
                </a:solidFill>
              </a:rPr>
              <a:t>Barn · administreret af dig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709160" cy="960120"/>
          </a:xfrm>
          <a:prstGeom prst="rect">
            <a:avLst/>
          </a:prstGeom>
          <a:solidFill>
            <a:srgbClr val="39222A"/>
          </a:solidFill>
          <a:ln w="12700">
            <a:solidFill>
              <a:srgbClr val="A31933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Forkert model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“Jeg er bestyrelsesmedlem” — brugeren tildeler sig selv adgang.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3703320"/>
            <a:ext cx="4709160" cy="960120"/>
          </a:xfrm>
          <a:prstGeom prst="rect">
            <a:avLst/>
          </a:prstGeom>
          <a:solidFill>
            <a:srgbClr val="24352E"/>
          </a:solidFill>
          <a:ln w="12700">
            <a:solidFill>
              <a:srgbClr val="3D8F61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Rigtig model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“Roskilde IF siger, at du har denne rolle. Vil du bruge den til dette login?”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5120640"/>
            <a:ext cx="4709160" cy="822960"/>
          </a:xfrm>
          <a:prstGeom prst="rect">
            <a:avLst/>
          </a:prstGeom>
          <a:solidFill>
            <a:srgbClr val="2B2B2B"/>
          </a:solidFill>
          <a:ln w="12700">
            <a:solidFill>
              <a:srgbClr val="575757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Konsekvens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 fjerner “Hvem er du?” fra oprettelsen og bruger rollevalg kun i loginflows.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652881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 · IdrætsID · PRKOM Gruppe 5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9284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8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31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MOCKUPRETNING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7F5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IdrætsID skal føles hurtigt, sikkert og tydeligt adskilt fra medlemssystemet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7B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Bordeaux/hvidt designsprog inspireret af MitID — men med idrættens eget udtryk.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1325880" cy="41148"/>
          </a:xfrm>
          <a:prstGeom prst="rect">
            <a:avLst/>
          </a:prstGeom>
          <a:solidFill>
            <a:srgbClr val="8A1024"/>
          </a:solidFill>
          <a:ln w="12700">
            <a:solidFill>
              <a:srgbClr val="8A1024"/>
            </a:solidFill>
            <a:prstDash val="solid"/>
          </a:ln>
        </p:spPr>
      </p:sp>
      <p:pic>
        <p:nvPicPr>
          <p:cNvPr id="6" name="Image 0" descr="/mnt/data/roskilde_if_login_på_far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68" y="1828800"/>
            <a:ext cx="2084225" cy="3703320"/>
          </a:xfrm>
          <a:prstGeom prst="rect">
            <a:avLst/>
          </a:prstGeom>
        </p:spPr>
      </p:pic>
      <p:pic>
        <p:nvPicPr>
          <p:cNvPr id="7" name="Image 1" descr="/mnt/data/idrætsid_mitid_verificer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388" y="1828800"/>
            <a:ext cx="2084225" cy="3703320"/>
          </a:xfrm>
          <a:prstGeom prst="rect">
            <a:avLst/>
          </a:prstGeom>
        </p:spPr>
      </p:pic>
      <p:pic>
        <p:nvPicPr>
          <p:cNvPr id="8" name="Image 2" descr="/mnt/data/idrætsid_face_id_aktiver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108" y="1828800"/>
            <a:ext cx="2084225" cy="3703320"/>
          </a:xfrm>
          <a:prstGeom prst="rect">
            <a:avLst/>
          </a:prstGeom>
        </p:spPr>
      </p:pic>
      <p:pic>
        <p:nvPicPr>
          <p:cNvPr id="9" name="Image 3" descr="/mnt/data/dif_idrætsid_login_på_mobil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1828" y="1828800"/>
            <a:ext cx="2084225" cy="3703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13232" y="56875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B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i ekstern løsning</a:t>
            </a:r>
            <a:endParaRPr lang="en-US" sz="1050" dirty="0"/>
          </a:p>
        </p:txBody>
      </p:sp>
      <p:sp>
        <p:nvSpPr>
          <p:cNvPr id="11" name="Text 5"/>
          <p:cNvSpPr/>
          <p:nvPr/>
        </p:nvSpPr>
        <p:spPr>
          <a:xfrm>
            <a:off x="2999232" y="56875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B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MitID kun ved oprettelse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5358384" y="56875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B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 ID/passkey bagefter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7818120" y="568756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B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Swipe-godkendelse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10012680" y="2286000"/>
            <a:ext cx="1463040" cy="2926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75757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Vigtigt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Mockuppet viser ikke en ny sportsplatform. Det viser et login- og identitetslag, der arbejder sammen med eksisterende systemer.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566928" y="652881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 · IdrætsID · PRKOM Gruppe 5</a:t>
            </a:r>
            <a:endParaRPr lang="en-US" sz="750" dirty="0"/>
          </a:p>
        </p:txBody>
      </p:sp>
      <p:sp>
        <p:nvSpPr>
          <p:cNvPr id="16" name="Text 10"/>
          <p:cNvSpPr/>
          <p:nvPr/>
        </p:nvSpPr>
        <p:spPr>
          <a:xfrm>
            <a:off x="1129284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8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31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7F5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Hvad vil vi gerne have feedback på?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7B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 vil især validere retning, metode og afgrænsning før næste iteration.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1325880" cy="41148"/>
          </a:xfrm>
          <a:prstGeom prst="rect">
            <a:avLst/>
          </a:prstGeom>
          <a:solidFill>
            <a:srgbClr val="8A1024"/>
          </a:solidFill>
          <a:ln w="12700">
            <a:solidFill>
              <a:srgbClr val="8A10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73152" cy="1051560"/>
          </a:xfrm>
          <a:prstGeom prst="rect">
            <a:avLst/>
          </a:prstGeom>
          <a:solidFill>
            <a:srgbClr val="8A1024"/>
          </a:solidFill>
          <a:ln w="12700">
            <a:solidFill>
              <a:srgbClr val="8A10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4617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2"/>
                </a:solidFill>
              </a:rPr>
              <a:t>1. Problemformulering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49631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B7B7B7"/>
                </a:solidFill>
              </a:rPr>
              <a:t>Er den stadig for bred, eller giver det mening at holde den åben indtil brugertest og interviews er gennemført?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6400800" y="1965960"/>
            <a:ext cx="73152" cy="1051560"/>
          </a:xfrm>
          <a:prstGeom prst="rect">
            <a:avLst/>
          </a:prstGeom>
          <a:solidFill>
            <a:srgbClr val="8A1024"/>
          </a:solidFill>
          <a:ln w="12700">
            <a:solidFill>
              <a:srgbClr val="8A10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103120"/>
            <a:ext cx="4617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2"/>
                </a:solidFill>
              </a:rPr>
              <a:t>2. Målgruppefokus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249631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B7B7B7"/>
                </a:solidFill>
              </a:rPr>
              <a:t>Bør vi primært fokusere på foreninger, slutbrugere eller koblingen mellem de to?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822960" y="3611880"/>
            <a:ext cx="73152" cy="1051560"/>
          </a:xfrm>
          <a:prstGeom prst="rect">
            <a:avLst/>
          </a:prstGeom>
          <a:solidFill>
            <a:srgbClr val="8A1024"/>
          </a:solidFill>
          <a:ln w="12700">
            <a:solidFill>
              <a:srgbClr val="8A10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749040"/>
            <a:ext cx="4617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2"/>
                </a:solidFill>
              </a:rPr>
              <a:t>3. Konceptretning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414223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B7B7B7"/>
                </a:solidFill>
              </a:rPr>
              <a:t>Er “IdrætsID som loginlag” stærkere end at fremstille det som en ny brugerplatform?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6400800" y="3611880"/>
            <a:ext cx="73152" cy="1051560"/>
          </a:xfrm>
          <a:prstGeom prst="rect">
            <a:avLst/>
          </a:prstGeom>
          <a:solidFill>
            <a:srgbClr val="8A1024"/>
          </a:solidFill>
          <a:ln w="12700">
            <a:solidFill>
              <a:srgbClr val="8A10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749040"/>
            <a:ext cx="4617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2"/>
                </a:solidFill>
              </a:rPr>
              <a:t>4. Metodevalg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414223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B7B7B7"/>
                </a:solidFill>
              </a:rPr>
              <a:t>Er sequence diagrams + mockups + brugertest nok til at teste forståelse, tillid og adoption?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1051560" y="55321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7B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 vi ikke vil låse endnu: endelig problemformulering, endelig målgruppeprioritering og præcis kommunikationsvinkel.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652881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 · IdrætsID · PRKOM Gruppe 5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9284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8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31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FREM MOD AFLEVERING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7F5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Næste skridt: fra koncept til valideret argument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7B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 skal bruge den næste periode på at teste, om flowet faktisk skaber forståelse og motivation.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1325880" cy="41148"/>
          </a:xfrm>
          <a:prstGeom prst="rect">
            <a:avLst/>
          </a:prstGeom>
          <a:solidFill>
            <a:srgbClr val="8A1024"/>
          </a:solidFill>
          <a:ln w="12700">
            <a:solidFill>
              <a:srgbClr val="8A10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3063240"/>
            <a:ext cx="1143000" cy="0"/>
          </a:xfrm>
          <a:prstGeom prst="line">
            <a:avLst/>
          </a:prstGeom>
          <a:noFill/>
          <a:ln w="19050">
            <a:solidFill>
              <a:srgbClr val="B7B7B7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0" y="3063240"/>
            <a:ext cx="1143000" cy="0"/>
          </a:xfrm>
          <a:prstGeom prst="line">
            <a:avLst/>
          </a:prstGeom>
          <a:noFill/>
          <a:ln w="19050">
            <a:solidFill>
              <a:srgbClr val="B7B7B7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132320" y="3063240"/>
            <a:ext cx="1143000" cy="0"/>
          </a:xfrm>
          <a:prstGeom prst="line">
            <a:avLst/>
          </a:prstGeom>
          <a:noFill/>
          <a:ln w="19050">
            <a:solidFill>
              <a:srgbClr val="B7B7B7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692640" y="3063240"/>
            <a:ext cx="868680" cy="0"/>
          </a:xfrm>
          <a:prstGeom prst="line">
            <a:avLst/>
          </a:prstGeom>
          <a:noFill/>
          <a:ln w="19050">
            <a:solidFill>
              <a:srgbClr val="B7B7B7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94360" y="2542032"/>
            <a:ext cx="1783080" cy="1115568"/>
          </a:xfrm>
          <a:prstGeom prst="rect">
            <a:avLst/>
          </a:prstGeom>
          <a:solidFill>
            <a:srgbClr val="2B2B2B"/>
          </a:solidFill>
          <a:ln w="12700">
            <a:solidFill>
              <a:srgbClr val="575757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Empiri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Interviews og spørgeskemaer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88920" y="2542032"/>
            <a:ext cx="2057400" cy="1115568"/>
          </a:xfrm>
          <a:prstGeom prst="rect">
            <a:avLst/>
          </a:prstGeom>
          <a:solidFill>
            <a:srgbClr val="2B2B2B"/>
          </a:solidFill>
          <a:ln w="12700">
            <a:solidFill>
              <a:srgbClr val="575757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Brugertest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flow, mockup og rollelogik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57800" y="2542032"/>
            <a:ext cx="2148840" cy="1115568"/>
          </a:xfrm>
          <a:prstGeom prst="rect">
            <a:avLst/>
          </a:prstGeom>
          <a:solidFill>
            <a:srgbClr val="2B2B2B"/>
          </a:solidFill>
          <a:ln w="12700">
            <a:solidFill>
              <a:srgbClr val="575757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Iteration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Tilpas design og forklaringer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18120" y="2542032"/>
            <a:ext cx="2148840" cy="1115568"/>
          </a:xfrm>
          <a:prstGeom prst="rect">
            <a:avLst/>
          </a:prstGeom>
          <a:solidFill>
            <a:srgbClr val="2B2B2B"/>
          </a:solidFill>
          <a:ln w="12700">
            <a:solidFill>
              <a:srgbClr val="575757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Analyse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Sammenhold data på tværs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0" y="2542032"/>
            <a:ext cx="1417320" cy="1115568"/>
          </a:xfrm>
          <a:prstGeom prst="rect">
            <a:avLst/>
          </a:prstGeom>
          <a:solidFill>
            <a:srgbClr val="8A1024"/>
          </a:solidFill>
          <a:ln w="12700">
            <a:solidFill>
              <a:srgbClr val="A31933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Aflevering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Konklusion og evaluering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736592"/>
            <a:ext cx="1005840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2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Præcisér problemformuleringen ud fra empiriske fund.
</a:t>
            </a:r>
            <a:endParaRPr lang="en-US" sz="1320" dirty="0"/>
          </a:p>
          <a:p>
            <a:r>
              <a:rPr lang="en-US" sz="132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Dokumentér, hvad brugere/foreninger forstår og misforstår ved IdrætsID.
</a:t>
            </a:r>
            <a:endParaRPr lang="en-US" sz="1320" dirty="0"/>
          </a:p>
          <a:p>
            <a:r>
              <a:rPr lang="en-US" sz="132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Vurder om designet skaber lavere friktion og større tillid.
</a:t>
            </a:r>
            <a:endParaRPr lang="en-US" sz="1320" dirty="0"/>
          </a:p>
          <a:p>
            <a:r>
              <a:rPr lang="en-US" sz="1320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Afslut med en begrundet anbefaling til DIF om kommunikation og brugerflow.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566928" y="652881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 · IdrætsID · PRKOM Gruppe 5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9284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8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Midtvejspræsentation – DIF IdrætsID</dc:title>
  <dc:subject>Midtvejspræsentation – DIF IdrætsID</dc:subject>
  <dc:creator>PRKOM Gruppe 5</dc:creator>
  <cp:lastModifiedBy>PRKOM Gruppe 5</cp:lastModifiedBy>
  <cp:revision>1</cp:revision>
  <dcterms:created xsi:type="dcterms:W3CDTF">2026-09-21T09:47:05Z</dcterms:created>
  <dcterms:modified xsi:type="dcterms:W3CDTF">2026-09-21T09:47:05Z</dcterms:modified>
</cp:coreProperties>
</file>